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4" r:id="rId2"/>
  </p:sldMasterIdLst>
  <p:notesMasterIdLst>
    <p:notesMasterId r:id="rId12"/>
  </p:notesMasterIdLst>
  <p:sldIdLst>
    <p:sldId id="2147480247" r:id="rId3"/>
    <p:sldId id="260" r:id="rId4"/>
    <p:sldId id="2147480240" r:id="rId5"/>
    <p:sldId id="2147480241" r:id="rId6"/>
    <p:sldId id="2147480242" r:id="rId7"/>
    <p:sldId id="2147480243" r:id="rId8"/>
    <p:sldId id="2147480245" r:id="rId9"/>
    <p:sldId id="2147480246" r:id="rId10"/>
    <p:sldId id="2147480244" r:id="rId11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C11EBC-6E71-EBCD-2C82-F9FE9579DE25}" name="Emelianova, Vera /RU" initials="EV/" userId="S::Vera.Emelianova@sanofi.com::6b228804-0f3b-4740-9e16-fbfe212722f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41B185-D369-4FF2-96A4-97B18F36E558}" v="158" dt="2024-01-31T11:31:40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7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8/10/relationships/authors" Target="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348D5-ECB4-4B50-9A11-B60F1A56E2D2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766AA-1F15-4B3D-A83E-DB7984959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77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4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4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88EF-2F98-E2BB-F464-B4A750B64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F29503-5B7E-81CD-4DFE-5E7AC5B90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314E8-86F0-2753-25E2-DA71B38F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84B1-DF67-499E-BDC9-D7A181A69F01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F9FF-09A4-A92E-93F7-1C979EDB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184A6-158A-CC26-F840-606BB202A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3536-EFDA-4611-A0FC-9AAF24328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5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0C5E2-CEF4-D465-6EC2-97B48C5C4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0EFC8-0AB4-58DE-7116-F87022FC2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7BFE4-34D1-39A0-6C56-5F8645DE6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84B1-DF67-499E-BDC9-D7A181A69F01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C087B-6428-BF41-B9D0-08EAA41B7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DA1F2-0C58-0FAB-3417-4D323AA77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3536-EFDA-4611-A0FC-9AAF24328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3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5413F-C563-153D-B285-AA6A9E30C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61D9A-8E6C-B4FA-6457-DBAD81D98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98BB3-D7F9-8A0E-ED4C-07080F9C7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84B1-DF67-499E-BDC9-D7A181A69F01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EAE63-2594-1305-D9FA-917DDB33F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B322B-4D03-4678-4CAB-CF3A80E4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3536-EFDA-4611-A0FC-9AAF24328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532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7AB70-AC64-82BB-7B47-F8A7300A4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A5400-934C-9D98-3D21-A6271FCB17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E91DC-53ED-83F3-96E9-EC904A776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16503-ECD3-0DC1-83AF-C82316D7B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84B1-DF67-499E-BDC9-D7A181A69F01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D0BDB-1037-655B-7363-1544CFC64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32DE2-6753-4AF8-6CEA-BCC9B1DAA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3536-EFDA-4611-A0FC-9AAF24328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44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D7E7A-14CC-BAEE-E857-9A7D41FA6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C85AA-4742-CB5B-1508-585693A80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A1D9B-8A93-D86C-5443-2E3724C92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44E91-1639-6D2D-A36B-A50A0ABB42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4C2E7F-DF1C-C9D0-0A65-7E215AA70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D2AD95-D485-1347-9CCC-1589ECEC1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84B1-DF67-499E-BDC9-D7A181A69F01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4F16E-C5D9-D6E1-9B14-63DDB361C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8ED5A3-3DDA-7D50-B71B-194E785E1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3536-EFDA-4611-A0FC-9AAF24328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49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B1B18-034D-F4E8-9A5B-2114BA96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1798B8-814E-007E-E200-D8B6032F4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84B1-DF67-499E-BDC9-D7A181A69F01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F5E8F-A73A-AB23-5439-B8A7C046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AD42D-F7C4-E5D6-47CC-5BF8D4EB0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3536-EFDA-4611-A0FC-9AAF24328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49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90738D-FC5B-3427-6657-07B7ED1AF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84B1-DF67-499E-BDC9-D7A181A69F01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0320A8-B222-9232-7076-5C32EA06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C2325-F14A-F79A-B0DE-0EA0736E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3536-EFDA-4611-A0FC-9AAF24328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23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07864-B7F8-8193-86D5-2B4652512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3DE40-E804-3B90-35EE-74473AE17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7A43C-4C6D-8EBA-0E73-201E49B4A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E6DF7-2FCB-E9E1-282C-BBDE99DDD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84B1-DF67-499E-BDC9-D7A181A69F01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632BF-A94E-98CD-A56C-CDF39D376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50EC6-50A2-5E10-C94B-181B0437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3536-EFDA-4611-A0FC-9AAF24328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34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66311-43AD-12DC-C85A-F8DF26963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F224DC-8ED4-B782-FB4E-E733FE0583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9F539-4677-0028-A44B-5369DF9C1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6DEAF5-EB46-E000-BACF-B12B91CD7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84B1-DF67-499E-BDC9-D7A181A69F01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C18C9-E079-9D89-3180-FE97B0DE2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B54CDB-0975-88D6-A2C7-9A3A5FA4F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3536-EFDA-4611-A0FC-9AAF24328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73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D1AA1-1B1C-E7E3-0666-7F62AD2BE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48746-3666-9F56-6846-FF85D3587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95C61-7085-D915-BC4A-88C4A44EE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84B1-DF67-499E-BDC9-D7A181A69F01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86A5-03C4-A464-6B27-A5D09CE94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F8757-6A72-35AF-76A5-057708EF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3536-EFDA-4611-A0FC-9AAF24328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790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5482F9-76E6-E6D9-6C75-2D403A8D4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C6065-F000-8563-031F-8E83F2F5D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5FDC8-AFD2-50A0-0F53-34F3A287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84B1-DF67-499E-BDC9-D7A181A69F01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BEF7E-54BF-CF41-634A-AB8193E3B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94354-A372-A4AD-2206-120368434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3536-EFDA-4611-A0FC-9AAF24328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88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81398C-CE28-487A-8E9C-EEFBA6634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4A037D1-6AF1-4C36-BFAF-D4AAA5245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8DE68A-E451-45A9-9A6A-FC1DBDCF2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21EC-F7F3-4C68-9CA7-45C77718CE5E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D4C699-FAC0-49A2-A82F-13AD04155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8383BD-45A2-4A61-A892-B86FC16E2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BC0D-0145-4276-B60B-3F6711E34423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B296743-2CF0-4C05-8F93-ECE7137F1C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-21907"/>
            <a:ext cx="12192000" cy="114427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09963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81398C-CE28-487A-8E9C-EEFBA6634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4A037D1-6AF1-4C36-BFAF-D4AAA5245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8DE68A-E451-45A9-9A6A-FC1DBDCF2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21EC-F7F3-4C68-9CA7-45C77718CE5E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D4C699-FAC0-49A2-A82F-13AD04155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8383BD-45A2-4A61-A892-B86FC16E2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BC0D-0145-4276-B60B-3F6711E34423}" type="slidenum">
              <a:rPr lang="ru-RU" smtClean="0"/>
              <a:t>‹#›</a:t>
            </a:fld>
            <a:endParaRPr lang="ru-R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DB4EDB-AF78-40FE-9D38-B0329986BD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954"/>
                    </a14:imgEffect>
                    <a14:imgEffect>
                      <a14:saturation sat="282000"/>
                    </a14:imgEffect>
                  </a14:imgLayer>
                </a14:imgProps>
              </a:ext>
            </a:extLst>
          </a:blip>
          <a:srcRect l="42868" r="3236" b="60430"/>
          <a:stretch/>
        </p:blipFill>
        <p:spPr>
          <a:xfrm>
            <a:off x="0" y="0"/>
            <a:ext cx="12192000" cy="11460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08614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052A9A3-FB92-407F-AEAB-BD60DE67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9A5F3A-5541-4BA1-A985-CA706B00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21EC-F7F3-4C68-9CA7-45C77718CE5E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A4A773-280A-4607-ADBB-4C119BA7C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1E5D79-99C0-45A8-BDD1-68EB1393E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BC0D-0145-4276-B60B-3F6711E34423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57FAA-3A8C-4865-880D-AB3CE66CA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91" y="5192"/>
            <a:ext cx="11926389" cy="112779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9E5C5A-168A-4670-A50C-A1BE4A52DC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954"/>
                    </a14:imgEffect>
                    <a14:imgEffect>
                      <a14:saturation sat="282000"/>
                    </a14:imgEffect>
                  </a14:imgLayer>
                </a14:imgProps>
              </a:ext>
            </a:extLst>
          </a:blip>
          <a:srcRect l="42868" r="3236" b="60430"/>
          <a:stretch/>
        </p:blipFill>
        <p:spPr>
          <a:xfrm>
            <a:off x="0" y="0"/>
            <a:ext cx="12192000" cy="11460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6770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052A9A3-FB92-407F-AEAB-BD60DE67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9A5F3A-5541-4BA1-A985-CA706B00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21EC-F7F3-4C68-9CA7-45C77718CE5E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A4A773-280A-4607-ADBB-4C119BA7C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1E5D79-99C0-45A8-BDD1-68EB1393E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BC0D-0145-4276-B60B-3F6711E34423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57FAA-3A8C-4865-880D-AB3CE66CA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91" y="5192"/>
            <a:ext cx="11926389" cy="112779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1CF166-1B50-4D8F-B1C4-6944E03CDC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954"/>
                    </a14:imgEffect>
                    <a14:imgEffect>
                      <a14:saturation sat="282000"/>
                    </a14:imgEffect>
                  </a14:imgLayer>
                </a14:imgProps>
              </a:ext>
            </a:extLst>
          </a:blip>
          <a:srcRect l="42868" r="3236" b="60430"/>
          <a:stretch/>
        </p:blipFill>
        <p:spPr>
          <a:xfrm>
            <a:off x="0" y="0"/>
            <a:ext cx="12192000" cy="11460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7032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5792F4-6031-4156-95CD-556DD8072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1271DC-9E5C-410D-AE92-8BD5C5253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A47138-154E-4851-85F5-03516E829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21EC-F7F3-4C68-9CA7-45C77718CE5E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9BC4AC-E6AC-4239-A5D1-ACA5CCE53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8AC2C3-EC6E-42C5-89D0-23FB8D70A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BC0D-0145-4276-B60B-3F6711E34423}" type="slidenum">
              <a:rPr lang="ru-RU" smtClean="0"/>
              <a:t>‹#›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91951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F1EF48-C725-4646-B3EF-395E552B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C77B21-8E2A-48EA-A3BB-93DB1819EC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355AA7-1EAA-4E7D-9F3D-E1B728287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F3527D-4F84-4C39-AE7F-89E26571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21EC-F7F3-4C68-9CA7-45C77718CE5E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842D70-A253-4C50-B52E-5B63894A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698E8D-A2BA-4E69-98E3-36874DCC3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BC0D-0145-4276-B60B-3F6711E34423}" type="slidenum">
              <a:rPr lang="ru-RU" smtClean="0"/>
              <a:t>‹#›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36535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8CE56-A07C-44E8-A533-5D1F3DC8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95604D-4696-4864-82DC-5B7178FD1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FDD29ED-994A-439C-B5F8-C37C119EC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B0B4A26-0E69-4AA6-B254-724E88A88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2FD4E3D-81DE-401F-8332-8FC59D60D2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F0A8331-7E2F-4E64-997B-6EE348D71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21EC-F7F3-4C68-9CA7-45C77718CE5E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A636E7A-B90F-4FDA-A00E-0227810C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7FF0721-781D-45A6-BBA6-69ACC9CF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BC0D-0145-4276-B60B-3F6711E34423}" type="slidenum">
              <a:rPr lang="ru-RU" smtClean="0"/>
              <a:t>‹#›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9142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6FBEC4-7FFB-4284-B8CF-A2BC0A99B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42DD284-5856-45CF-9913-E608D61BA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21EC-F7F3-4C68-9CA7-45C77718CE5E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B40EE54-923B-485D-8D19-07CE54BD5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134B96-81F9-436D-AC2E-A2FE7FCB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BC0D-0145-4276-B60B-3F6711E34423}" type="slidenum">
              <a:rPr lang="ru-RU" smtClean="0"/>
              <a:t>‹#›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41793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0F753E8-8A8C-471B-88C3-5FDDFC5D0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21EC-F7F3-4C68-9CA7-45C77718CE5E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967AF6B-789D-4556-904F-8D1EF6389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35A839-4F0B-4173-93E6-AD3E0B6D8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BC0D-0145-4276-B60B-3F6711E344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2654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89DDBA-5BC2-4D0D-AD1E-400761665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DEEA5D-54C1-46F9-AB5F-21FABFF5C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A2A824-3392-4725-BAD8-C1297B847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B2AD09-623B-4D8C-B1E3-9F72D2EF3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21EC-F7F3-4C68-9CA7-45C77718CE5E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C5FF65-9280-4577-A681-38042E04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828D26-BA71-48A4-A9A2-098230941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BC0D-0145-4276-B60B-3F6711E344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7041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888E06-C38D-4225-8CBC-AA28C54F9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A9A6416-A77F-4959-B116-0BA44EEFA3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9CACC6-0F18-475D-946E-3ADE77405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6B673A-D480-47AC-8431-BA165AAB6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21EC-F7F3-4C68-9CA7-45C77718CE5E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630AAD-76CC-4F09-8DF9-4250EDCE0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19D547-AF22-476A-9DAD-72F008713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BC0D-0145-4276-B60B-3F6711E344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632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F3A1D4-13FF-48CD-98FD-53F4E0123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09BBBC-B570-430B-B0AE-94DCF3C04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C00976-F9AB-4059-A507-E19993B0A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21EC-F7F3-4C68-9CA7-45C77718CE5E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D4BEB5-2BBC-4D7D-8422-96B727152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2265E2-6B1E-40E4-92A7-46B14813D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BC0D-0145-4276-B60B-3F6711E344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4104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84A9EF7-3581-4BE9-A635-F992D2C08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4D2E19-AB04-47B6-BD5E-0912747025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19BF34-B4FE-4E0C-9082-C19C73C01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21EC-F7F3-4C68-9CA7-45C77718CE5E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139E51-54C1-41D8-958F-72B422AEC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527049-8B03-439D-AB2F-69F6927AB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BC0D-0145-4276-B60B-3F6711E344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628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8A1B7AE-A8DB-A40F-0B0B-0619637C9BD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144933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05" imgH="405" progId="TCLayout.ActiveDocument.1">
                  <p:embed/>
                </p:oleObj>
              </mc:Choice>
              <mc:Fallback>
                <p:oleObj name="think-cell Slide" r:id="rId14" imgW="405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A1B7AE-A8DB-A40F-0B0B-0619637C9B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57292B-0C82-1549-1142-EEC8DD562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A03C9-C642-0213-E372-624A1DD41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B41BF-3B65-3970-4AC4-CD3978C1A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B84B1-DF67-499E-BDC9-D7A181A69F01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08D61-F08A-81B9-DB65-8755FAA93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3DAD9-47BC-692D-08D3-CBAE72100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C3536-EFDA-4611-A0FC-9AAF24328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78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80DE6BE-BF73-938B-0401-6C3484361D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10211615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05" imgH="405" progId="TCLayout.ActiveDocument.1">
                  <p:embed/>
                </p:oleObj>
              </mc:Choice>
              <mc:Fallback>
                <p:oleObj name="think-cell Slide" r:id="rId16" imgW="405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0DE6BE-BF73-938B-0401-6C3484361D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C8A9F0-A190-4E34-B8BC-D5B3C2B1E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97D651-35E4-4F0F-AB85-72E8E5A73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734050-4CF6-4BC9-B137-69F2DBAF75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A21EC-F7F3-4C68-9CA7-45C77718CE5E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9C277F-BA06-4394-B81E-3735E2B0CB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AA6762-1C41-43A9-9096-DEB5AEF2B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0BC0D-0145-4276-B60B-3F6711E344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353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3.xml"/><Relationship Id="rId7" Type="http://schemas.openxmlformats.org/officeDocument/2006/relationships/hyperlink" Target="https://docsfera.click/419xwIt" TargetMode="Externa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Relationship Id="rId5" Type="http://schemas.openxmlformats.org/officeDocument/2006/relationships/hyperlink" Target="https://docsfera.click/419xwIt" TargetMode="Externa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fera.click/419xwIt" TargetMode="External"/><Relationship Id="rId3" Type="http://schemas.openxmlformats.org/officeDocument/2006/relationships/oleObject" Target="../embeddings/oleObject6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hyperlink" Target="https://docsfera.click/419xwIt" TargetMode="Externa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fera.click/419xwIt" TargetMode="External"/><Relationship Id="rId3" Type="http://schemas.openxmlformats.org/officeDocument/2006/relationships/oleObject" Target="../embeddings/oleObject8.bin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hyperlink" Target="https://docsfera.click/419xwIt" TargetMode="Externa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oleObject" Target="../embeddings/oleObject10.bin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Relationship Id="rId6" Type="http://schemas.openxmlformats.org/officeDocument/2006/relationships/image" Target="../media/image17.png"/><Relationship Id="rId11" Type="http://schemas.openxmlformats.org/officeDocument/2006/relationships/hyperlink" Target="https://docsfera.click/419xwIt" TargetMode="External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.emf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hyperlink" Target="https://docsfera.click/419xwIt" TargetMode="Externa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E9ABA28-7382-5FC6-E735-CD5ADF102E3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73478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9ABA28-7382-5FC6-E735-CD5ADF102E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7CF070D-569F-FF21-BD62-DA49FE369A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28451"/>
            <a:ext cx="12192000" cy="2387600"/>
          </a:xfrm>
        </p:spPr>
        <p:txBody>
          <a:bodyPr vert="horz">
            <a:normAutofit fontScale="90000"/>
          </a:bodyPr>
          <a:lstStyle/>
          <a:p>
            <a:r>
              <a:rPr lang="en-US" sz="4800" b="1" dirty="0"/>
              <a:t>N-PASS </a:t>
            </a:r>
            <a:br>
              <a:rPr lang="en-US" sz="4800" dirty="0"/>
            </a:br>
            <a:r>
              <a:rPr lang="en-US" sz="4000" dirty="0"/>
              <a:t>(Nasal Polyps Patient Assessment Scoring Sheet)</a:t>
            </a:r>
            <a:br>
              <a:rPr lang="en-US" sz="4800" dirty="0"/>
            </a:br>
            <a:r>
              <a:rPr lang="ru-RU" sz="4800" dirty="0"/>
              <a:t>Инструмент для врачей для оценки пациентов с полипозным риносинуситом</a:t>
            </a:r>
            <a:endParaRPr lang="en-US" sz="4800" dirty="0"/>
          </a:p>
        </p:txBody>
      </p:sp>
      <p:sp>
        <p:nvSpPr>
          <p:cNvPr id="32" name="Прямоугольник 4">
            <a:extLst>
              <a:ext uri="{FF2B5EF4-FFF2-40B4-BE49-F238E27FC236}">
                <a16:creationId xmlns:a16="http://schemas.microsoft.com/office/drawing/2014/main" id="{6EE79258-4C95-AE8B-0C9B-3EF33C14354F}"/>
              </a:ext>
            </a:extLst>
          </p:cNvPr>
          <p:cNvSpPr/>
          <p:nvPr/>
        </p:nvSpPr>
        <p:spPr>
          <a:xfrm>
            <a:off x="0" y="5980837"/>
            <a:ext cx="12192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Материал подготовлен в рамках осуществления научной деятельности при поддержке компании АО «Санофи Россия»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Информация предназначена исключительно для медицинских работников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82EB27-3045-ABA5-E049-3FF80F7A6358}"/>
              </a:ext>
            </a:extLst>
          </p:cNvPr>
          <p:cNvSpPr txBox="1"/>
          <p:nvPr/>
        </p:nvSpPr>
        <p:spPr>
          <a:xfrm>
            <a:off x="9057357" y="6581001"/>
            <a:ext cx="31346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</a:rPr>
              <a:t>MAT-RU-2400298-1.0-01/202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4000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2BBA333-58F4-65B5-2441-21971F051D6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320296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405" progId="TCLayout.ActiveDocument.1">
                  <p:embed/>
                </p:oleObj>
              </mc:Choice>
              <mc:Fallback>
                <p:oleObj name="think-cell Slide" r:id="rId4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2BBA333-58F4-65B5-2441-21971F051D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5">
            <a:extLst>
              <a:ext uri="{FF2B5EF4-FFF2-40B4-BE49-F238E27FC236}">
                <a16:creationId xmlns:a16="http://schemas.microsoft.com/office/drawing/2014/main" id="{62BA1D17-171E-4F9D-9AC3-15A52E4DC92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223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spc="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N-PASS (Nasal Polyps Patient Assessment Scoring Sheet)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Инструмент для комплексной оценки пациентов с ПРС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BC0025-E312-6F62-F536-67A1FE301B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16" y="1153172"/>
            <a:ext cx="5915881" cy="57048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00A752-CFDF-DF96-1D29-668D042AFA65}"/>
              </a:ext>
            </a:extLst>
          </p:cNvPr>
          <p:cNvSpPr txBox="1"/>
          <p:nvPr/>
        </p:nvSpPr>
        <p:spPr>
          <a:xfrm>
            <a:off x="6096000" y="1274958"/>
            <a:ext cx="58890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Инструмент представляет собой опросник для врачей, </a:t>
            </a:r>
          </a:p>
          <a:p>
            <a:pPr algn="ctr"/>
            <a:r>
              <a:rPr lang="ru-RU" dirty="0"/>
              <a:t>в котором предполагается оценка всех клинических параметров пациента, необходимых для принятия решения о дальнейшей тактике.</a:t>
            </a:r>
          </a:p>
          <a:p>
            <a:pPr algn="ctr"/>
            <a:r>
              <a:rPr lang="ru-RU" dirty="0"/>
              <a:t>Также предусмотрена возможность формирования аналитики для оценки динамики от визита к визиту.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817E12-3E4E-CB90-B1CE-500265E0A060}"/>
              </a:ext>
            </a:extLst>
          </p:cNvPr>
          <p:cNvSpPr txBox="1"/>
          <p:nvPr/>
        </p:nvSpPr>
        <p:spPr>
          <a:xfrm>
            <a:off x="6096000" y="6008780"/>
            <a:ext cx="330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ПРС, полипозный риносинусит</a:t>
            </a:r>
          </a:p>
          <a:p>
            <a:r>
              <a:rPr lang="ru-RU" sz="1200" dirty="0"/>
              <a:t>Электронный ресурс </a:t>
            </a:r>
          </a:p>
          <a:p>
            <a:r>
              <a:rPr lang="en-US" sz="1200" dirty="0">
                <a:hlinkClick r:id="rId7"/>
              </a:rPr>
              <a:t>https://docsfera.click/419xwIt</a:t>
            </a:r>
            <a:r>
              <a:rPr lang="ru-RU" sz="1200" dirty="0"/>
              <a:t> </a:t>
            </a:r>
            <a:r>
              <a:rPr lang="en-US" sz="1200" dirty="0"/>
              <a:t> </a:t>
            </a:r>
            <a:endParaRPr lang="ru-RU" sz="1200" dirty="0"/>
          </a:p>
          <a:p>
            <a:r>
              <a:rPr lang="ru-RU" sz="1200" dirty="0"/>
              <a:t>дата доступа </a:t>
            </a:r>
            <a:r>
              <a:rPr lang="en-US" sz="1200" dirty="0"/>
              <a:t>30</a:t>
            </a:r>
            <a:r>
              <a:rPr lang="ru-RU" sz="1200" dirty="0"/>
              <a:t>.</a:t>
            </a:r>
            <a:r>
              <a:rPr lang="en-US" sz="1200" dirty="0"/>
              <a:t>0</a:t>
            </a:r>
            <a:r>
              <a:rPr lang="ru-RU" sz="1200" dirty="0"/>
              <a:t>1.202</a:t>
            </a:r>
            <a:r>
              <a:rPr lang="en-US" sz="1200" dirty="0"/>
              <a:t>4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7F8F39-500D-0CD9-403A-9D657C91E8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7248" y="3029284"/>
            <a:ext cx="3067858" cy="30678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18370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C9CCA25-61F9-674E-6762-480C681B1AA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55003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C9CCA25-61F9-674E-6762-480C681B1A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5">
            <a:extLst>
              <a:ext uri="{FF2B5EF4-FFF2-40B4-BE49-F238E27FC236}">
                <a16:creationId xmlns:a16="http://schemas.microsoft.com/office/drawing/2014/main" id="{AB7ED5C8-C054-9932-6E05-6C43914AE84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223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spc="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N-PASS (Nasal Polyps Patient Assessment Scoring Sheet)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Инструмент для комплексной оценки пациентов с ПРС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99144-CF44-19A3-E84C-049D5C53E96F}"/>
              </a:ext>
            </a:extLst>
          </p:cNvPr>
          <p:cNvSpPr txBox="1"/>
          <p:nvPr/>
        </p:nvSpPr>
        <p:spPr>
          <a:xfrm>
            <a:off x="928551" y="1787142"/>
            <a:ext cx="1033489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N-PASS </a:t>
            </a:r>
            <a:r>
              <a:rPr lang="ru-RU" sz="2400" b="1" dirty="0"/>
              <a:t>состоит из следующих этапов:</a:t>
            </a:r>
          </a:p>
          <a:p>
            <a:endParaRPr lang="ru-R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Первичное заполнение опросника (когда пациент пришел к врачу впервые)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Повторное заполнение (любой последующий визит; количество повторных оценок не ограничено)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На каждом повторном заполнении есть возможность сформировать сводную аналитику в виде таблиц и диаграмм, отражающих динамику по всем оцениваемым параметрам в сравнении с предшествующими визитами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042B76-F665-16A9-5854-028AD68B870A}"/>
              </a:ext>
            </a:extLst>
          </p:cNvPr>
          <p:cNvSpPr txBox="1"/>
          <p:nvPr/>
        </p:nvSpPr>
        <p:spPr>
          <a:xfrm>
            <a:off x="351905" y="6027003"/>
            <a:ext cx="330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ПРС, полипозный риносинусит</a:t>
            </a:r>
          </a:p>
          <a:p>
            <a:r>
              <a:rPr lang="ru-RU" sz="1200" dirty="0"/>
              <a:t>Электронный ресурс </a:t>
            </a:r>
          </a:p>
          <a:p>
            <a:r>
              <a:rPr lang="en-US" sz="1200" dirty="0">
                <a:hlinkClick r:id="rId5"/>
              </a:rPr>
              <a:t>https://docsfera.click/419xwIt</a:t>
            </a:r>
            <a:r>
              <a:rPr lang="ru-RU" sz="1200" dirty="0"/>
              <a:t> </a:t>
            </a:r>
            <a:r>
              <a:rPr lang="en-US" sz="1200" dirty="0"/>
              <a:t> </a:t>
            </a:r>
            <a:endParaRPr lang="ru-RU" sz="1200" dirty="0"/>
          </a:p>
          <a:p>
            <a:r>
              <a:rPr lang="ru-RU" sz="1200" dirty="0"/>
              <a:t>дата доступа </a:t>
            </a:r>
            <a:r>
              <a:rPr lang="en-US" sz="1200" dirty="0"/>
              <a:t>30</a:t>
            </a:r>
            <a:r>
              <a:rPr lang="ru-RU" sz="1200" dirty="0"/>
              <a:t>.</a:t>
            </a:r>
            <a:r>
              <a:rPr lang="en-US" sz="1200" dirty="0"/>
              <a:t>0</a:t>
            </a:r>
            <a:r>
              <a:rPr lang="ru-RU" sz="1200" dirty="0"/>
              <a:t>1.202</a:t>
            </a:r>
            <a:r>
              <a:rPr lang="en-US" sz="1200" dirty="0"/>
              <a:t>4 </a:t>
            </a:r>
          </a:p>
        </p:txBody>
      </p:sp>
    </p:spTree>
    <p:extLst>
      <p:ext uri="{BB962C8B-B14F-4D97-AF65-F5344CB8AC3E}">
        <p14:creationId xmlns:p14="http://schemas.microsoft.com/office/powerpoint/2010/main" val="1139249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BA634E0-40DA-85DA-49E4-383F2C7C8D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13200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BA634E0-40DA-85DA-49E4-383F2C7C8D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75E0372-9FA6-25AA-E051-FC0212E726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410F27-9274-A751-4514-A38166AB6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08" y="411428"/>
            <a:ext cx="4072659" cy="30783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1B0D87-5503-7574-42DE-3D0DDB88722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57407"/>
          <a:stretch/>
        </p:blipFill>
        <p:spPr>
          <a:xfrm>
            <a:off x="101216" y="3848898"/>
            <a:ext cx="7820362" cy="2921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3B6944-E81B-7AFA-F142-D5BD855FA2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4675" y="85334"/>
            <a:ext cx="5147925" cy="37305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3516A67-069C-F74C-B7B0-51AD9D3F2AD5}"/>
              </a:ext>
            </a:extLst>
          </p:cNvPr>
          <p:cNvSpPr/>
          <p:nvPr/>
        </p:nvSpPr>
        <p:spPr>
          <a:xfrm>
            <a:off x="9448608" y="85334"/>
            <a:ext cx="2642176" cy="3730559"/>
          </a:xfrm>
          <a:prstGeom prst="roundRect">
            <a:avLst>
              <a:gd name="adj" fmla="val 8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u="sng" dirty="0"/>
              <a:t>Оценка выраженности симптомов по ВАШ </a:t>
            </a:r>
          </a:p>
          <a:p>
            <a:r>
              <a:rPr lang="ru-RU" b="1" u="sng" dirty="0"/>
              <a:t>(0-10 баллов):</a:t>
            </a:r>
          </a:p>
          <a:p>
            <a:pPr marL="285750" indent="-285750">
              <a:buFontTx/>
              <a:buChar char="-"/>
            </a:pPr>
            <a:r>
              <a:rPr lang="ru-RU" dirty="0"/>
              <a:t>Назальная обструкция</a:t>
            </a:r>
          </a:p>
          <a:p>
            <a:pPr marL="285750" indent="-285750">
              <a:buFontTx/>
              <a:buChar char="-"/>
            </a:pPr>
            <a:r>
              <a:rPr lang="ru-RU" dirty="0"/>
              <a:t>Выделения из носа (ринорея)</a:t>
            </a:r>
          </a:p>
          <a:p>
            <a:pPr marL="285750" indent="-285750">
              <a:buFontTx/>
              <a:buChar char="-"/>
            </a:pPr>
            <a:r>
              <a:rPr lang="ru-RU" dirty="0"/>
              <a:t>Снижение/потеря обоняния</a:t>
            </a:r>
          </a:p>
          <a:p>
            <a:pPr marL="285750" indent="-285750">
              <a:buFontTx/>
              <a:buChar char="-"/>
            </a:pPr>
            <a:r>
              <a:rPr lang="ru-RU" dirty="0"/>
              <a:t>Боль/давление в области лица</a:t>
            </a:r>
          </a:p>
          <a:p>
            <a:pPr marL="285750" indent="-285750">
              <a:buFontTx/>
              <a:buChar char="-"/>
            </a:pPr>
            <a:r>
              <a:rPr lang="ru-RU" dirty="0"/>
              <a:t>Нарушение сна/усталость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AE2033B-D892-2110-EFC0-ADC72BDE3B38}"/>
              </a:ext>
            </a:extLst>
          </p:cNvPr>
          <p:cNvSpPr/>
          <p:nvPr/>
        </p:nvSpPr>
        <p:spPr>
          <a:xfrm>
            <a:off x="8022794" y="3910389"/>
            <a:ext cx="4067990" cy="2317782"/>
          </a:xfrm>
          <a:prstGeom prst="roundRect">
            <a:avLst>
              <a:gd name="adj" fmla="val 8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u="sng" dirty="0"/>
              <a:t>Оценка хирургического анамнеза с учетом:</a:t>
            </a:r>
          </a:p>
          <a:p>
            <a:pPr marL="285750" indent="-285750">
              <a:buFontTx/>
              <a:buChar char="-"/>
            </a:pPr>
            <a:r>
              <a:rPr lang="ru-RU" dirty="0"/>
              <a:t>Количества операций по поводу полипозного риносинусита</a:t>
            </a:r>
          </a:p>
          <a:p>
            <a:pPr marL="285750" indent="-285750">
              <a:buFontTx/>
              <a:buChar char="-"/>
            </a:pPr>
            <a:r>
              <a:rPr lang="ru-RU" dirty="0"/>
              <a:t>Давности и объема последнего хирургического вмешательства</a:t>
            </a:r>
          </a:p>
          <a:p>
            <a:pPr marL="285750" indent="-285750">
              <a:buFontTx/>
              <a:buChar char="-"/>
            </a:pPr>
            <a:r>
              <a:rPr lang="ru-RU" dirty="0"/>
              <a:t>Оценка наличия противопоказаний к хирургическому лечению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6B695A-68DE-078E-C405-F0DEE665B813}"/>
              </a:ext>
            </a:extLst>
          </p:cNvPr>
          <p:cNvSpPr txBox="1"/>
          <p:nvPr/>
        </p:nvSpPr>
        <p:spPr>
          <a:xfrm>
            <a:off x="8274791" y="6203418"/>
            <a:ext cx="3815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Электронный ресурс </a:t>
            </a:r>
          </a:p>
          <a:p>
            <a:r>
              <a:rPr lang="en-US" sz="1200" dirty="0">
                <a:hlinkClick r:id="rId8"/>
              </a:rPr>
              <a:t>https://docsfera.click/419xwIt</a:t>
            </a:r>
            <a:r>
              <a:rPr lang="ru-RU" sz="1200" dirty="0"/>
              <a:t> </a:t>
            </a:r>
            <a:r>
              <a:rPr lang="en-US" sz="1200" dirty="0"/>
              <a:t> </a:t>
            </a:r>
            <a:endParaRPr lang="ru-RU" sz="1200" dirty="0"/>
          </a:p>
          <a:p>
            <a:r>
              <a:rPr lang="ru-RU" sz="1200" dirty="0"/>
              <a:t>дата доступа </a:t>
            </a:r>
            <a:r>
              <a:rPr lang="en-US" sz="1200" dirty="0"/>
              <a:t>30</a:t>
            </a:r>
            <a:r>
              <a:rPr lang="ru-RU" sz="1200" dirty="0"/>
              <a:t>.</a:t>
            </a:r>
            <a:r>
              <a:rPr lang="en-US" sz="1200" dirty="0"/>
              <a:t>0</a:t>
            </a:r>
            <a:r>
              <a:rPr lang="ru-RU" sz="1200" dirty="0"/>
              <a:t>1.202</a:t>
            </a:r>
            <a:r>
              <a:rPr lang="en-US" sz="1200" dirty="0"/>
              <a:t>4 </a:t>
            </a:r>
          </a:p>
        </p:txBody>
      </p:sp>
    </p:spTree>
    <p:extLst>
      <p:ext uri="{BB962C8B-B14F-4D97-AF65-F5344CB8AC3E}">
        <p14:creationId xmlns:p14="http://schemas.microsoft.com/office/powerpoint/2010/main" val="1661014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BA634E0-40DA-85DA-49E4-383F2C7C8D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BA634E0-40DA-85DA-49E4-383F2C7C8D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75E0372-9FA6-25AA-E051-FC0212E726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477449A-1FE5-E264-A15B-142E2DC3C37D}"/>
              </a:ext>
            </a:extLst>
          </p:cNvPr>
          <p:cNvSpPr/>
          <p:nvPr/>
        </p:nvSpPr>
        <p:spPr>
          <a:xfrm>
            <a:off x="7461506" y="958818"/>
            <a:ext cx="4567253" cy="1581182"/>
          </a:xfrm>
          <a:prstGeom prst="roundRect">
            <a:avLst>
              <a:gd name="adj" fmla="val 8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u="sng" dirty="0"/>
              <a:t>Оценка потребности в системных глюкокортикостероидах (сГКС):</a:t>
            </a:r>
          </a:p>
          <a:p>
            <a:pPr marL="285750" indent="-285750">
              <a:buFontTx/>
              <a:buChar char="-"/>
            </a:pPr>
            <a:r>
              <a:rPr lang="ru-RU" dirty="0"/>
              <a:t>Количество проведенных курсов сГКС     в анамнезе</a:t>
            </a:r>
          </a:p>
          <a:p>
            <a:pPr marL="285750" indent="-285750">
              <a:buFontTx/>
              <a:buChar char="-"/>
            </a:pPr>
            <a:r>
              <a:rPr lang="ru-RU" dirty="0"/>
              <a:t>Длительность курсов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92C6FFC-298D-E24E-778C-A34896DBEA96}"/>
              </a:ext>
            </a:extLst>
          </p:cNvPr>
          <p:cNvSpPr/>
          <p:nvPr/>
        </p:nvSpPr>
        <p:spPr>
          <a:xfrm>
            <a:off x="7461506" y="3236036"/>
            <a:ext cx="4567253" cy="3300231"/>
          </a:xfrm>
          <a:prstGeom prst="roundRect">
            <a:avLst>
              <a:gd name="adj" fmla="val 8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u="sng" dirty="0"/>
              <a:t>Результаты лабораторных исследований:</a:t>
            </a:r>
          </a:p>
          <a:p>
            <a:pPr marL="285750" indent="-285750">
              <a:buFontTx/>
              <a:buChar char="-"/>
            </a:pPr>
            <a:r>
              <a:rPr lang="ru-RU" dirty="0"/>
              <a:t>Эозинофилы крови в абсолютном значении (клеток в микролитре)</a:t>
            </a:r>
          </a:p>
          <a:p>
            <a:pPr marL="285750" indent="-285750">
              <a:buFontTx/>
              <a:buChar char="-"/>
            </a:pPr>
            <a:r>
              <a:rPr lang="ru-RU" dirty="0"/>
              <a:t>Общий </a:t>
            </a:r>
            <a:r>
              <a:rPr lang="en-US" dirty="0" err="1"/>
              <a:t>IgE</a:t>
            </a:r>
            <a:r>
              <a:rPr lang="ru-RU" dirty="0"/>
              <a:t> (при наличии)</a:t>
            </a:r>
          </a:p>
          <a:p>
            <a:pPr marL="285750" indent="-285750">
              <a:buFontTx/>
              <a:buChar char="-"/>
            </a:pPr>
            <a:r>
              <a:rPr lang="ru-RU" dirty="0"/>
              <a:t>Эозинофилы назального секрета (при наличии)</a:t>
            </a:r>
          </a:p>
          <a:p>
            <a:pPr marL="285750" indent="-285750">
              <a:buFontTx/>
              <a:buChar char="-"/>
            </a:pPr>
            <a:r>
              <a:rPr lang="ru-RU" dirty="0"/>
              <a:t>Возможность автоматического расчёта количества эозинофилов крови из относительных значений (когда в наличии только лейкоформула с процентным содержанием эозинофилов)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B21D68B-8EDD-E9C0-8898-CA1A3CE32C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1" y="69818"/>
            <a:ext cx="7265004" cy="34713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BA2B4E-3F95-E53F-C00F-B34EF8D00B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51" y="3678987"/>
            <a:ext cx="7265004" cy="29903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FA3CF9-EE0E-6303-C1F8-BCD9154E5D13}"/>
              </a:ext>
            </a:extLst>
          </p:cNvPr>
          <p:cNvSpPr txBox="1"/>
          <p:nvPr/>
        </p:nvSpPr>
        <p:spPr>
          <a:xfrm>
            <a:off x="4630189" y="6581001"/>
            <a:ext cx="7398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IgE</a:t>
            </a:r>
            <a:r>
              <a:rPr lang="en-US" sz="1200" dirty="0"/>
              <a:t>, </a:t>
            </a:r>
            <a:r>
              <a:rPr lang="ru-RU" sz="1200" dirty="0"/>
              <a:t>иммуноглобулин Е. Электронный ресурс </a:t>
            </a:r>
            <a:r>
              <a:rPr lang="en-US" sz="1200" dirty="0">
                <a:hlinkClick r:id="rId7"/>
              </a:rPr>
              <a:t>https://docsfera.click/419xwIt</a:t>
            </a:r>
            <a:r>
              <a:rPr lang="ru-RU" sz="1200" dirty="0"/>
              <a:t> </a:t>
            </a:r>
            <a:r>
              <a:rPr lang="en-US" sz="1200" dirty="0"/>
              <a:t> </a:t>
            </a:r>
            <a:r>
              <a:rPr lang="ru-RU" sz="1200" dirty="0"/>
              <a:t>дата доступа </a:t>
            </a:r>
            <a:r>
              <a:rPr lang="en-US" sz="1200" dirty="0"/>
              <a:t>30</a:t>
            </a:r>
            <a:r>
              <a:rPr lang="ru-RU" sz="1200" dirty="0"/>
              <a:t>.</a:t>
            </a:r>
            <a:r>
              <a:rPr lang="en-US" sz="1200" dirty="0"/>
              <a:t>0</a:t>
            </a:r>
            <a:r>
              <a:rPr lang="ru-RU" sz="1200" dirty="0"/>
              <a:t>1.202</a:t>
            </a:r>
            <a:r>
              <a:rPr lang="en-US" sz="1200" dirty="0"/>
              <a:t>4 </a:t>
            </a:r>
          </a:p>
        </p:txBody>
      </p:sp>
    </p:spTree>
    <p:extLst>
      <p:ext uri="{BB962C8B-B14F-4D97-AF65-F5344CB8AC3E}">
        <p14:creationId xmlns:p14="http://schemas.microsoft.com/office/powerpoint/2010/main" val="1922039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BA634E0-40DA-85DA-49E4-383F2C7C8D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63082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BA634E0-40DA-85DA-49E4-383F2C7C8D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75E0372-9FA6-25AA-E051-FC0212E726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36FD71-9C24-8B7D-35AD-F6CFE28786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2" y="55049"/>
            <a:ext cx="6565016" cy="31809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92C6FFC-298D-E24E-778C-A34896DBEA96}"/>
              </a:ext>
            </a:extLst>
          </p:cNvPr>
          <p:cNvSpPr/>
          <p:nvPr/>
        </p:nvSpPr>
        <p:spPr>
          <a:xfrm>
            <a:off x="6855990" y="5698066"/>
            <a:ext cx="4946422" cy="996841"/>
          </a:xfrm>
          <a:prstGeom prst="roundRect">
            <a:avLst>
              <a:gd name="adj" fmla="val 8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u="sng" dirty="0"/>
              <a:t>Оценка пневматизации околоносовых пазух по данным компьютерной томографии (шкала Лунд-Маккея, 0-24 балла)</a:t>
            </a:r>
            <a:endParaRPr lang="ru-RU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477449A-1FE5-E264-A15B-142E2DC3C37D}"/>
              </a:ext>
            </a:extLst>
          </p:cNvPr>
          <p:cNvSpPr/>
          <p:nvPr/>
        </p:nvSpPr>
        <p:spPr>
          <a:xfrm>
            <a:off x="7235159" y="517743"/>
            <a:ext cx="4567253" cy="836115"/>
          </a:xfrm>
          <a:prstGeom prst="roundRect">
            <a:avLst>
              <a:gd name="adj" fmla="val 8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u="sng" dirty="0"/>
              <a:t>Эндоскопическая оценка по шкале </a:t>
            </a:r>
            <a:r>
              <a:rPr lang="en-US" b="1" u="sng" dirty="0"/>
              <a:t>NPS (Nasal Polyp Score, 0-8 </a:t>
            </a:r>
            <a:r>
              <a:rPr lang="ru-RU" b="1" u="sng" dirty="0"/>
              <a:t>баллов</a:t>
            </a:r>
            <a:r>
              <a:rPr lang="en-US" b="1" u="sng" dirty="0"/>
              <a:t>)</a:t>
            </a:r>
            <a:endParaRPr lang="ru-R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0D5F8B-560C-1D71-95E6-46C2ADEEB6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52" y="3946044"/>
            <a:ext cx="6396530" cy="26157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086E31-247E-0A07-DBB0-4827549B3F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0971" y="1645542"/>
            <a:ext cx="6565016" cy="34855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Arrow: Left 17">
            <a:extLst>
              <a:ext uri="{FF2B5EF4-FFF2-40B4-BE49-F238E27FC236}">
                <a16:creationId xmlns:a16="http://schemas.microsoft.com/office/drawing/2014/main" id="{EB0FDF14-704B-7938-C13F-970174037405}"/>
              </a:ext>
            </a:extLst>
          </p:cNvPr>
          <p:cNvSpPr/>
          <p:nvPr/>
        </p:nvSpPr>
        <p:spPr>
          <a:xfrm>
            <a:off x="6712394" y="576218"/>
            <a:ext cx="473639" cy="73162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0439BDD1-7A58-3426-8579-6244B4B566F8}"/>
              </a:ext>
            </a:extLst>
          </p:cNvPr>
          <p:cNvSpPr/>
          <p:nvPr/>
        </p:nvSpPr>
        <p:spPr>
          <a:xfrm>
            <a:off x="8923867" y="5212458"/>
            <a:ext cx="804333" cy="43374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83FFD4-85C0-501E-8D33-D408D8945C65}"/>
              </a:ext>
            </a:extLst>
          </p:cNvPr>
          <p:cNvSpPr txBox="1"/>
          <p:nvPr/>
        </p:nvSpPr>
        <p:spPr>
          <a:xfrm>
            <a:off x="282634" y="6565612"/>
            <a:ext cx="5170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Электронный ресурс </a:t>
            </a:r>
            <a:r>
              <a:rPr lang="en-US" sz="1200" dirty="0">
                <a:hlinkClick r:id="rId8"/>
              </a:rPr>
              <a:t>https://docsfera.click/419xwIt</a:t>
            </a:r>
            <a:r>
              <a:rPr lang="ru-RU" sz="1200" dirty="0"/>
              <a:t> </a:t>
            </a:r>
            <a:r>
              <a:rPr lang="en-US" sz="1200" dirty="0"/>
              <a:t> </a:t>
            </a:r>
            <a:r>
              <a:rPr lang="ru-RU" sz="1200" dirty="0"/>
              <a:t>дата доступа </a:t>
            </a:r>
            <a:r>
              <a:rPr lang="en-US" sz="1200" dirty="0"/>
              <a:t>30</a:t>
            </a:r>
            <a:r>
              <a:rPr lang="ru-RU" sz="1200" dirty="0"/>
              <a:t>.</a:t>
            </a:r>
            <a:r>
              <a:rPr lang="en-US" sz="1200" dirty="0"/>
              <a:t>0</a:t>
            </a:r>
            <a:r>
              <a:rPr lang="ru-RU" sz="1200" dirty="0"/>
              <a:t>1.202</a:t>
            </a:r>
            <a:r>
              <a:rPr lang="en-US" sz="1200" dirty="0"/>
              <a:t>4 </a:t>
            </a:r>
          </a:p>
        </p:txBody>
      </p:sp>
    </p:spTree>
    <p:extLst>
      <p:ext uri="{BB962C8B-B14F-4D97-AF65-F5344CB8AC3E}">
        <p14:creationId xmlns:p14="http://schemas.microsoft.com/office/powerpoint/2010/main" val="999484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BA634E0-40DA-85DA-49E4-383F2C7C8D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1988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BA634E0-40DA-85DA-49E4-383F2C7C8D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75E0372-9FA6-25AA-E051-FC0212E726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43EEA1-9B82-CD67-0041-F244362BE2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7" y="110775"/>
            <a:ext cx="8747314" cy="27255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F78435-79F8-64AB-EB0F-9817C29AFD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6974" y="1562250"/>
            <a:ext cx="6093486" cy="568064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C48DDF-FB4B-D7E7-13FB-0D38A520E804}"/>
              </a:ext>
            </a:extLst>
          </p:cNvPr>
          <p:cNvSpPr/>
          <p:nvPr/>
        </p:nvSpPr>
        <p:spPr>
          <a:xfrm>
            <a:off x="299494" y="3022508"/>
            <a:ext cx="4567253" cy="1287025"/>
          </a:xfrm>
          <a:prstGeom prst="roundRect">
            <a:avLst>
              <a:gd name="adj" fmla="val 8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Никакие данные, включая персональные данные пациента, не сохраняются на удаленных серверах и не доступны никаким третьим лицам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92C6FFC-298D-E24E-778C-A34896DBEA96}"/>
              </a:ext>
            </a:extLst>
          </p:cNvPr>
          <p:cNvSpPr/>
          <p:nvPr/>
        </p:nvSpPr>
        <p:spPr>
          <a:xfrm>
            <a:off x="7847968" y="410299"/>
            <a:ext cx="4237728" cy="1119370"/>
          </a:xfrm>
          <a:prstGeom prst="roundRect">
            <a:avLst>
              <a:gd name="adj" fmla="val 8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u="sng" dirty="0"/>
              <a:t>Заполненный опросник можно сохранить</a:t>
            </a:r>
            <a:r>
              <a:rPr lang="en-US" b="1" u="sng" dirty="0"/>
              <a:t> </a:t>
            </a:r>
            <a:r>
              <a:rPr lang="ru-RU" b="1" u="sng" dirty="0"/>
              <a:t>в виде </a:t>
            </a:r>
            <a:r>
              <a:rPr lang="en-US" b="1" u="sng" dirty="0"/>
              <a:t>PDF</a:t>
            </a:r>
            <a:r>
              <a:rPr lang="ru-RU" b="1" u="sng" dirty="0"/>
              <a:t>-файла или распечатать </a:t>
            </a:r>
            <a:endParaRPr lang="ru-RU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FA2E841-31AD-B87F-9B51-EBEED965D630}"/>
              </a:ext>
            </a:extLst>
          </p:cNvPr>
          <p:cNvSpPr/>
          <p:nvPr/>
        </p:nvSpPr>
        <p:spPr>
          <a:xfrm>
            <a:off x="299494" y="4385825"/>
            <a:ext cx="4567253" cy="948266"/>
          </a:xfrm>
          <a:prstGeom prst="roundRect">
            <a:avLst>
              <a:gd name="adj" fmla="val 8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Результаты заполнений опросника хранятся только локально на устройстве пользователя </a:t>
            </a:r>
            <a:endParaRPr lang="ru-RU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3B0F10E-E7E3-37F3-7F8B-6DEAC1E504CE}"/>
              </a:ext>
            </a:extLst>
          </p:cNvPr>
          <p:cNvSpPr/>
          <p:nvPr/>
        </p:nvSpPr>
        <p:spPr>
          <a:xfrm>
            <a:off x="299494" y="5410383"/>
            <a:ext cx="4567253" cy="1109041"/>
          </a:xfrm>
          <a:prstGeom prst="roundRect">
            <a:avLst>
              <a:gd name="adj" fmla="val 8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По заполнении опросника, помимо </a:t>
            </a:r>
            <a:r>
              <a:rPr lang="en-US" b="1" dirty="0"/>
              <a:t>PDF</a:t>
            </a:r>
            <a:r>
              <a:rPr lang="ru-RU" b="1" dirty="0"/>
              <a:t>, сохраняется технический файл в формате </a:t>
            </a:r>
            <a:r>
              <a:rPr lang="en-US" b="1" dirty="0"/>
              <a:t>.</a:t>
            </a:r>
            <a:r>
              <a:rPr lang="en-US" b="1" dirty="0" err="1"/>
              <a:t>npass</a:t>
            </a:r>
            <a:r>
              <a:rPr lang="ru-RU" b="1" dirty="0"/>
              <a:t>, необходимый для формирования аналитики на последующей визите</a:t>
            </a:r>
            <a:endParaRPr lang="ru-RU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E5AC612B-116E-4A4E-16E6-FB88CDF0A2D9}"/>
              </a:ext>
            </a:extLst>
          </p:cNvPr>
          <p:cNvSpPr/>
          <p:nvPr/>
        </p:nvSpPr>
        <p:spPr>
          <a:xfrm>
            <a:off x="9492698" y="1562250"/>
            <a:ext cx="948267" cy="6434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5C3F75-CBD6-C927-B378-A973C7C72513}"/>
              </a:ext>
            </a:extLst>
          </p:cNvPr>
          <p:cNvSpPr txBox="1"/>
          <p:nvPr/>
        </p:nvSpPr>
        <p:spPr>
          <a:xfrm>
            <a:off x="59267" y="6555846"/>
            <a:ext cx="5170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Электронный ресурс </a:t>
            </a:r>
            <a:r>
              <a:rPr lang="en-US" sz="1200" dirty="0">
                <a:hlinkClick r:id="rId7"/>
              </a:rPr>
              <a:t>https://docsfera.click/419xwIt</a:t>
            </a:r>
            <a:r>
              <a:rPr lang="ru-RU" sz="1200" dirty="0"/>
              <a:t> </a:t>
            </a:r>
            <a:r>
              <a:rPr lang="en-US" sz="1200" dirty="0"/>
              <a:t> </a:t>
            </a:r>
            <a:r>
              <a:rPr lang="ru-RU" sz="1200" dirty="0"/>
              <a:t>дата доступа </a:t>
            </a:r>
            <a:r>
              <a:rPr lang="en-US" sz="1200" dirty="0"/>
              <a:t>30</a:t>
            </a:r>
            <a:r>
              <a:rPr lang="ru-RU" sz="1200" dirty="0"/>
              <a:t>.</a:t>
            </a:r>
            <a:r>
              <a:rPr lang="en-US" sz="1200" dirty="0"/>
              <a:t>0</a:t>
            </a:r>
            <a:r>
              <a:rPr lang="ru-RU" sz="1200" dirty="0"/>
              <a:t>1.202</a:t>
            </a:r>
            <a:r>
              <a:rPr lang="en-US" sz="1200" dirty="0"/>
              <a:t>4 </a:t>
            </a:r>
          </a:p>
        </p:txBody>
      </p:sp>
    </p:spTree>
    <p:extLst>
      <p:ext uri="{BB962C8B-B14F-4D97-AF65-F5344CB8AC3E}">
        <p14:creationId xmlns:p14="http://schemas.microsoft.com/office/powerpoint/2010/main" val="4250627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BA634E0-40DA-85DA-49E4-383F2C7C8D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50513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BA634E0-40DA-85DA-49E4-383F2C7C8D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75E0372-9FA6-25AA-E051-FC0212E726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3516A67-069C-F74C-B7B0-51AD9D3F2AD5}"/>
              </a:ext>
            </a:extLst>
          </p:cNvPr>
          <p:cNvSpPr/>
          <p:nvPr/>
        </p:nvSpPr>
        <p:spPr>
          <a:xfrm>
            <a:off x="4318001" y="93164"/>
            <a:ext cx="7704666" cy="838170"/>
          </a:xfrm>
          <a:prstGeom prst="roundRect">
            <a:avLst>
              <a:gd name="adj" fmla="val 8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Перед началом повторного заполнения опросника на последующих визитах предлагается загрузить технический файл, сохраненный по завершении оценки на предыдущем визите</a:t>
            </a:r>
            <a:endParaRPr kumimoji="0" lang="en-US" sz="1800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2AD6DB-F46E-36E6-A66A-834864B03A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38" y="93163"/>
            <a:ext cx="4093296" cy="30868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CE8E8A-FBD6-981B-FCE3-5E14CDA3E9BA}"/>
              </a:ext>
            </a:extLst>
          </p:cNvPr>
          <p:cNvSpPr/>
          <p:nvPr/>
        </p:nvSpPr>
        <p:spPr>
          <a:xfrm>
            <a:off x="4318001" y="1024498"/>
            <a:ext cx="7704666" cy="618038"/>
          </a:xfrm>
          <a:prstGeom prst="roundRect">
            <a:avLst>
              <a:gd name="adj" fmla="val 8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Повторное заполнение опросника на последующих визитах проводится так же, как первичное</a:t>
            </a:r>
            <a:endParaRPr kumimoji="0" lang="en-US" sz="1800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E4DE50E-ABFF-8C45-BF49-7DAC55BC080F}"/>
              </a:ext>
            </a:extLst>
          </p:cNvPr>
          <p:cNvSpPr/>
          <p:nvPr/>
        </p:nvSpPr>
        <p:spPr>
          <a:xfrm>
            <a:off x="7407321" y="1735700"/>
            <a:ext cx="4615346" cy="1393929"/>
          </a:xfrm>
          <a:prstGeom prst="roundRect">
            <a:avLst>
              <a:gd name="adj" fmla="val 8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>
                <a:solidFill>
                  <a:prstClr val="white"/>
                </a:solidFill>
                <a:latin typeface="Calibri" panose="020F0502020204030204"/>
              </a:rPr>
              <a:t>По завершении каждого последующего заполнения опросника доступна опция формирования файла со сводной аналитикой в формате </a:t>
            </a:r>
            <a:r>
              <a:rPr lang="en-US" b="1" dirty="0">
                <a:solidFill>
                  <a:prstClr val="white"/>
                </a:solidFill>
                <a:latin typeface="Calibri" panose="020F0502020204030204"/>
              </a:rPr>
              <a:t>PDF</a:t>
            </a:r>
            <a:r>
              <a:rPr lang="ru-RU" b="1" dirty="0">
                <a:solidFill>
                  <a:prstClr val="white"/>
                </a:solidFill>
                <a:latin typeface="Calibri" panose="020F0502020204030204"/>
              </a:rPr>
              <a:t> </a:t>
            </a:r>
            <a:endParaRPr kumimoji="0" lang="en-US" sz="1800" b="0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B9E2DA-9BAB-F976-FA8D-CE67373398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0258" y="1668554"/>
            <a:ext cx="2473278" cy="14700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AD950A5C-9996-C392-931A-21DA98AC5B11}"/>
              </a:ext>
            </a:extLst>
          </p:cNvPr>
          <p:cNvSpPr/>
          <p:nvPr/>
        </p:nvSpPr>
        <p:spPr>
          <a:xfrm>
            <a:off x="6825001" y="1976967"/>
            <a:ext cx="540854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2AC36D-43AB-377C-EAF7-9FA463A03C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38" y="3205518"/>
            <a:ext cx="4093296" cy="17085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57CDDB-0AFE-B916-7641-768CE07214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329" y="4939539"/>
            <a:ext cx="4328338" cy="18888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FB08EC7-F2C5-2018-914B-AD7DDF79FD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7561" y="4027159"/>
            <a:ext cx="4774640" cy="28011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BDA6C2D-578D-883D-9FC6-341F47A2A1C6}"/>
              </a:ext>
            </a:extLst>
          </p:cNvPr>
          <p:cNvCxnSpPr>
            <a:stCxn id="15" idx="1"/>
          </p:cNvCxnSpPr>
          <p:nvPr/>
        </p:nvCxnSpPr>
        <p:spPr>
          <a:xfrm flipH="1">
            <a:off x="4656667" y="4406901"/>
            <a:ext cx="3298010" cy="10794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77D05BC6-59D1-3732-470C-C8904E76A2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8001" y="3182678"/>
            <a:ext cx="4676370" cy="884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16236B-2728-6DEC-BD2C-EEECFBF35F14}"/>
              </a:ext>
            </a:extLst>
          </p:cNvPr>
          <p:cNvCxnSpPr>
            <a:stCxn id="15" idx="1"/>
          </p:cNvCxnSpPr>
          <p:nvPr/>
        </p:nvCxnSpPr>
        <p:spPr>
          <a:xfrm flipH="1" flipV="1">
            <a:off x="6925733" y="3699933"/>
            <a:ext cx="1028944" cy="7069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AE2033B-D892-2110-EFC0-ADC72BDE3B38}"/>
              </a:ext>
            </a:extLst>
          </p:cNvPr>
          <p:cNvSpPr/>
          <p:nvPr/>
        </p:nvSpPr>
        <p:spPr>
          <a:xfrm>
            <a:off x="7954677" y="3598334"/>
            <a:ext cx="4067990" cy="1617133"/>
          </a:xfrm>
          <a:prstGeom prst="roundRect">
            <a:avLst>
              <a:gd name="adj" fmla="val 8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>
                <a:solidFill>
                  <a:prstClr val="white"/>
                </a:solidFill>
                <a:latin typeface="Calibri" panose="020F0502020204030204"/>
              </a:rPr>
              <a:t>В файле с анализом все оцениваемые параметры представлены в виде таблиц и диаграмм, отражающих динамику показателей от приема к приему</a:t>
            </a:r>
            <a:endParaRPr kumimoji="0" lang="ru-RU" sz="1800" b="1" i="0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B540BE-AB4C-D411-E676-073116BA805E}"/>
              </a:ext>
            </a:extLst>
          </p:cNvPr>
          <p:cNvSpPr txBox="1"/>
          <p:nvPr/>
        </p:nvSpPr>
        <p:spPr>
          <a:xfrm>
            <a:off x="9900457" y="5833503"/>
            <a:ext cx="2128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Электронный ресурс </a:t>
            </a:r>
            <a:r>
              <a:rPr lang="en-US" sz="1200" dirty="0">
                <a:hlinkClick r:id="rId11"/>
              </a:rPr>
              <a:t>https://docsfera.click/419xwIt</a:t>
            </a:r>
            <a:r>
              <a:rPr lang="ru-RU" sz="1200" dirty="0"/>
              <a:t> </a:t>
            </a:r>
            <a:r>
              <a:rPr lang="en-US" sz="1200" dirty="0"/>
              <a:t> </a:t>
            </a:r>
            <a:r>
              <a:rPr lang="ru-RU" sz="1200" dirty="0"/>
              <a:t>дата доступа </a:t>
            </a:r>
            <a:r>
              <a:rPr lang="en-US" sz="1200" dirty="0"/>
              <a:t>30</a:t>
            </a:r>
            <a:r>
              <a:rPr lang="ru-RU" sz="1200" dirty="0"/>
              <a:t>.</a:t>
            </a:r>
            <a:r>
              <a:rPr lang="en-US" sz="1200" dirty="0"/>
              <a:t>0</a:t>
            </a:r>
            <a:r>
              <a:rPr lang="ru-RU" sz="1200" dirty="0"/>
              <a:t>1.202</a:t>
            </a:r>
            <a:r>
              <a:rPr lang="en-US" sz="1200" dirty="0"/>
              <a:t>4 </a:t>
            </a:r>
          </a:p>
        </p:txBody>
      </p:sp>
    </p:spTree>
    <p:extLst>
      <p:ext uri="{BB962C8B-B14F-4D97-AF65-F5344CB8AC3E}">
        <p14:creationId xmlns:p14="http://schemas.microsoft.com/office/powerpoint/2010/main" val="206526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0BE1C46-8F3C-C2C2-79BC-DE88A7538D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3816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BE1C46-8F3C-C2C2-79BC-DE88A7538D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5">
            <a:extLst>
              <a:ext uri="{FF2B5EF4-FFF2-40B4-BE49-F238E27FC236}">
                <a16:creationId xmlns:a16="http://schemas.microsoft.com/office/drawing/2014/main" id="{14649FD5-C9F1-1DBF-D265-A805A044DBB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223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spc="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N-PASS (Nasal Polyps Patient Assessment Scoring Sheet)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200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Инструмент для комплексной оценки пациентов с ПРС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B9C0C3-2624-95A0-F23B-69880A753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16" y="1153172"/>
            <a:ext cx="5915881" cy="570482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794C1F-3A53-B1C1-BBDD-EFAB8157964D}"/>
              </a:ext>
            </a:extLst>
          </p:cNvPr>
          <p:cNvSpPr/>
          <p:nvPr/>
        </p:nvSpPr>
        <p:spPr>
          <a:xfrm>
            <a:off x="6200505" y="1244600"/>
            <a:ext cx="5784581" cy="2082800"/>
          </a:xfrm>
          <a:prstGeom prst="roundRect">
            <a:avLst>
              <a:gd name="adj" fmla="val 8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prstClr val="white"/>
                </a:solidFill>
                <a:latin typeface="Calibri" panose="020F0502020204030204"/>
              </a:rPr>
              <a:t>Всесторонний подход к оценке пациентов с полипозным риносинуситом (ПРС)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prstClr val="white"/>
                </a:solidFill>
                <a:latin typeface="Calibri" panose="020F0502020204030204"/>
              </a:rPr>
              <a:t>Оптимизация процесса ведения пациентов с ПРС 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Инст</a:t>
            </a:r>
            <a:r>
              <a:rPr lang="ru-RU" dirty="0">
                <a:solidFill>
                  <a:prstClr val="white"/>
                </a:solidFill>
                <a:latin typeface="Calibri" panose="020F0502020204030204"/>
              </a:rPr>
              <a:t>румент гармонизирован с обновленными рекомендациями </a:t>
            </a:r>
            <a:r>
              <a:rPr lang="en-US" dirty="0">
                <a:solidFill>
                  <a:prstClr val="white"/>
                </a:solidFill>
                <a:latin typeface="Calibri" panose="020F0502020204030204"/>
              </a:rPr>
              <a:t>EPOS/EUFOREA 2023</a:t>
            </a:r>
            <a:r>
              <a:rPr lang="en-US" baseline="30000" dirty="0">
                <a:solidFill>
                  <a:prstClr val="white"/>
                </a:solidFill>
                <a:latin typeface="Calibri" panose="020F0502020204030204"/>
              </a:rPr>
              <a:t>1</a:t>
            </a:r>
            <a:r>
              <a:rPr lang="ru-RU" baseline="30000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lang="ru-RU" dirty="0">
                <a:solidFill>
                  <a:prstClr val="white"/>
                </a:solidFill>
                <a:latin typeface="Calibri" panose="020F0502020204030204"/>
              </a:rPr>
              <a:t>в части критериев назначения биологической терапии и сроков оценки её эффективности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2DFC112-83FB-69AE-FA2D-839E2B5824C7}"/>
              </a:ext>
            </a:extLst>
          </p:cNvPr>
          <p:cNvSpPr txBox="1">
            <a:spLocks/>
          </p:cNvSpPr>
          <p:nvPr/>
        </p:nvSpPr>
        <p:spPr>
          <a:xfrm>
            <a:off x="6200504" y="6263084"/>
            <a:ext cx="5915880" cy="594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ts val="800"/>
              </a:lnSpc>
              <a:spcBef>
                <a:spcPts val="0"/>
              </a:spcBef>
              <a:buFont typeface="+mj-lt"/>
              <a:buAutoNum type="arabicPeriod"/>
              <a:defRPr sz="800" kern="1200">
                <a:solidFill>
                  <a:schemeClr val="bg1"/>
                </a:solidFill>
                <a:latin typeface="Montserrat Light" panose="00000400000000000000" pitchFamily="50" charset="-52"/>
                <a:ea typeface="Fira Sans Light" panose="020B0603050000020004" pitchFamily="34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ts val="800"/>
              </a:lnSpc>
              <a:spcBef>
                <a:spcPts val="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ts val="800"/>
              </a:lnSpc>
              <a:spcBef>
                <a:spcPts val="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ts val="800"/>
              </a:lnSpc>
              <a:spcBef>
                <a:spcPts val="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ts val="800"/>
              </a:lnSpc>
              <a:spcBef>
                <a:spcPts val="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EPOS, Европейский согласительный документ по риносинуситу и назальному полипозу (European Position Paper on Rhinosinusitis and Nasal Polyps);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EUFOREA, 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Европейский форум по исследованиям и образованию в области аллергии и заболеваний дыхательных путей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(European Forum for Research and Education in Allergy and airway diseases)</a:t>
            </a:r>
          </a:p>
          <a:p>
            <a:pPr marL="0" marR="0" lvl="0" indent="0" algn="l" defTabSz="9144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1. 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Fokkens WJ, Viskens AS, et al. EPOS/EUFOREA update on indication and evaluation of Biologics in Chronic Rhinosinusitis with Nasal Polyps 2023. Rhinology. 2023 Mar 31. doi: 10.4193/Rhin22.489. Epub ahead of print. PMID: 36999780.</a:t>
            </a:r>
            <a:endParaRPr kumimoji="0" lang="ru-RU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3A7199-294F-A9D5-B661-C14C9EBC81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5501" y="3351594"/>
            <a:ext cx="2911490" cy="29114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443F5B-5375-DEC2-A030-199725F43BE4}"/>
              </a:ext>
            </a:extLst>
          </p:cNvPr>
          <p:cNvSpPr txBox="1"/>
          <p:nvPr/>
        </p:nvSpPr>
        <p:spPr>
          <a:xfrm>
            <a:off x="10249034" y="5435549"/>
            <a:ext cx="194296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Электронный ресурс </a:t>
            </a:r>
            <a:r>
              <a:rPr lang="en-US" sz="1100" dirty="0">
                <a:hlinkClick r:id="rId7"/>
              </a:rPr>
              <a:t>https://docsfera.click/419xwIt</a:t>
            </a:r>
            <a:r>
              <a:rPr lang="ru-RU" sz="1100" dirty="0"/>
              <a:t> </a:t>
            </a:r>
            <a:r>
              <a:rPr lang="en-US" sz="1100" dirty="0"/>
              <a:t> </a:t>
            </a:r>
            <a:r>
              <a:rPr lang="ru-RU" sz="1100" dirty="0"/>
              <a:t>дата доступа </a:t>
            </a:r>
            <a:r>
              <a:rPr lang="en-US" sz="1100" dirty="0"/>
              <a:t>30</a:t>
            </a:r>
            <a:r>
              <a:rPr lang="ru-RU" sz="1100" dirty="0"/>
              <a:t>.</a:t>
            </a:r>
            <a:r>
              <a:rPr lang="en-US" sz="1100" dirty="0"/>
              <a:t>0</a:t>
            </a:r>
            <a:r>
              <a:rPr lang="ru-RU" sz="1100" dirty="0"/>
              <a:t>1.202</a:t>
            </a:r>
            <a:r>
              <a:rPr lang="en-US" sz="1100" dirty="0"/>
              <a:t>4 </a:t>
            </a:r>
          </a:p>
        </p:txBody>
      </p:sp>
    </p:spTree>
    <p:extLst>
      <p:ext uri="{BB962C8B-B14F-4D97-AF65-F5344CB8AC3E}">
        <p14:creationId xmlns:p14="http://schemas.microsoft.com/office/powerpoint/2010/main" val="39308679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4727</TotalTime>
  <Words>734</Words>
  <Application>Microsoft Office PowerPoint</Application>
  <PresentationFormat>Широкоэкранный</PresentationFormat>
  <Paragraphs>68</Paragraphs>
  <Slides>9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Тема Office</vt:lpstr>
      <vt:lpstr>think-cell Slide</vt:lpstr>
      <vt:lpstr>N-PASS  (Nasal Polyps Patient Assessment Scoring Sheet) Инструмент для врачей для оценки пациентов с полипозным риносинуситом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Sanofi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Khan, Denis /RU</dc:creator>
  <cp:lastModifiedBy>Dragan, Nina /RU</cp:lastModifiedBy>
  <cp:revision>2</cp:revision>
  <dcterms:created xsi:type="dcterms:W3CDTF">2023-11-22T13:03:37Z</dcterms:created>
  <dcterms:modified xsi:type="dcterms:W3CDTF">2024-01-31T11:58:23Z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9088468-0951-4aef-9cc3-0a346e475ddc_Enabled">
    <vt:lpwstr>true</vt:lpwstr>
  </property>
  <property fmtid="{D5CDD505-2E9C-101B-9397-08002B2CF9AE}" pid="3" name="MSIP_Label_d9088468-0951-4aef-9cc3-0a346e475ddc_SetDate">
    <vt:lpwstr>2023-11-22T13:03:47Z</vt:lpwstr>
  </property>
  <property fmtid="{D5CDD505-2E9C-101B-9397-08002B2CF9AE}" pid="4" name="MSIP_Label_d9088468-0951-4aef-9cc3-0a346e475ddc_Method">
    <vt:lpwstr>Privileged</vt:lpwstr>
  </property>
  <property fmtid="{D5CDD505-2E9C-101B-9397-08002B2CF9AE}" pid="5" name="MSIP_Label_d9088468-0951-4aef-9cc3-0a346e475ddc_Name">
    <vt:lpwstr>Public</vt:lpwstr>
  </property>
  <property fmtid="{D5CDD505-2E9C-101B-9397-08002B2CF9AE}" pid="6" name="MSIP_Label_d9088468-0951-4aef-9cc3-0a346e475ddc_SiteId">
    <vt:lpwstr>aca3c8d6-aa71-4e1a-a10e-03572fc58c0b</vt:lpwstr>
  </property>
  <property fmtid="{D5CDD505-2E9C-101B-9397-08002B2CF9AE}" pid="7" name="MSIP_Label_d9088468-0951-4aef-9cc3-0a346e475ddc_ActionId">
    <vt:lpwstr>7c7bc095-d240-44c7-a3d5-478b22491cf8</vt:lpwstr>
  </property>
  <property fmtid="{D5CDD505-2E9C-101B-9397-08002B2CF9AE}" pid="8" name="MSIP_Label_d9088468-0951-4aef-9cc3-0a346e475ddc_ContentBits">
    <vt:lpwstr>0</vt:lpwstr>
  </property>
  <property fmtid="{D5CDD505-2E9C-101B-9397-08002B2CF9AE}" pid="9" name="_AdHocReviewCycleID">
    <vt:i4>921999727</vt:i4>
  </property>
  <property fmtid="{D5CDD505-2E9C-101B-9397-08002B2CF9AE}" pid="10" name="_NewReviewCycle">
    <vt:lpwstr/>
  </property>
  <property fmtid="{D5CDD505-2E9C-101B-9397-08002B2CF9AE}" pid="11" name="_EmailSubject">
    <vt:lpwstr>N-PASS и другое</vt:lpwstr>
  </property>
  <property fmtid="{D5CDD505-2E9C-101B-9397-08002B2CF9AE}" pid="12" name="_AuthorEmail">
    <vt:lpwstr>Nina.Dragan@sanofi.com</vt:lpwstr>
  </property>
  <property fmtid="{D5CDD505-2E9C-101B-9397-08002B2CF9AE}" pid="13" name="_AuthorEmailDisplayName">
    <vt:lpwstr>Dragan, Nina /RU</vt:lpwstr>
  </property>
</Properties>
</file>